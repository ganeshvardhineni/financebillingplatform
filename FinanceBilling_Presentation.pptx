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DC2626"/>
              </a:solidFill>
              <a:effectLst/>
            </c:spPr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Backend/MVC</c:v>
                </c:pt>
                <c:pt idx="1">
                  <c:v>Database</c:v>
                </c:pt>
                <c:pt idx="2">
                  <c:v>API/Security</c:v>
                </c:pt>
                <c:pt idx="3">
                  <c:v>Testing</c:v>
                </c:pt>
                <c:pt idx="4">
                  <c:v>Cloud/AI</c:v>
                </c:pt>
                <c:pt idx="5">
                  <c:v>Analytical</c:v>
                </c:pt>
                <c:pt idx="6">
                  <c:v>Docs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3A5F"/>
                </a:solidFill>
                <a:latin typeface="Arial"/>
              </a:rPr>
              <a:t>Tests by Module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Invoice Entity</c:v>
                  </c:pt>
                  <c:pt idx="1">
                    <c:v>Payment Entity</c:v>
                  </c:pt>
                  <c:pt idx="2">
                    <c:v>Invoice Service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8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Revenue Leakage Through Automated Invoice &amp; Payment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6400800" cy="1645920"/>
          </a:xfrm>
          <a:prstGeom prst="rect">
            <a:avLst/>
          </a:prstGeom>
          <a:solidFill>
            <a:srgbClr val="0F2A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42316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8 · ASP.NET Core 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· EF 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REST API · Swagger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Azure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 Vardhineni  |  ganeshvardhineni@gmail.com  |  Great Learning Capstone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65176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8503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revenue leakage through automated tracking of invoices, payments, and overdue detection.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651760" cy="146304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8503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64408" y="1124712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· Payment · Customer · InvoiceItem · AuditLog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51760" cy="1463040"/>
          </a:xfrm>
          <a:prstGeom prst="rect">
            <a:avLst/>
          </a:prstGeom>
          <a:solidFill>
            <a:srgbClr val="FEF9C3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8503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44768" y="1124712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full access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create &amp; pay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— read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Coverage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30352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User Stories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US1–US2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C# OOP, SOLID, TDD (28 tests)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US3–US4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MS SQL Schema, EF Core, ADO.NET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US5–US7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ASP.NET Core MVC, Razor, AJAX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US8–US9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REST API, JWT, Role-based Auth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US10–US12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Docker, CI/CD, Copilot/AI Agent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US13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Docs, GitHub, Architecture, Demo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85216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Rubric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577840" y="2651760"/>
          <a:ext cx="32918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Layered Design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56692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FinanceBilling.Web (MVC)  +  FinanceBilling.API (REST)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8595360" cy="566928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44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FinanceBilling.Core — Entities · Services · Interfaces · Exceptions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859536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FinanceBilling.Infrastructure — EF Core · Repositories · ADO.NET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859536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626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— Invoices · Payments · Customers · AuditLogs · Triggers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8595360" cy="566928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64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FinanceBilling.Tests — xUnit · Moq · FluentAssertions (28 tests)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Core has ZERO dependencies on Infrastructure — dependency flows inward only.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Core has ZERO dependencies on Infrastructure — dependency flows inward only.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ER Diagram &amp; Schema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2860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7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0515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CustomerId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" y="1252728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25272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" y="1453896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45389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(UNIQUE)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1655064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65506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8600" y="1856232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8562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06040" y="777240"/>
            <a:ext cx="22860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77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06040" y="1051560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0515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InvoiceId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606040" y="1252728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125272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CustomerId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06040" y="1453896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9192" y="145389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InvoiceNumber (UNIQUE)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606040" y="1655064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165506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TotalAmount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606040" y="1856232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18562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PaidAmount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606040" y="2057400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20574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(TINYINT)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06040" y="2258568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9192" y="225856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DueDate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74920" y="777240"/>
            <a:ext cx="228600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77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INVOICE_ITEMS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74920" y="1051560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10515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ItemId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74920" y="1252728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8072" y="125272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InvoiceId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74920" y="1453896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8072" y="145389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074920" y="1655064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8072" y="165506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74920" y="1856232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8072" y="18562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UnitPrice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74920" y="2057400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8072" y="20574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LineTotal (computed)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858000" y="777240"/>
            <a:ext cx="2286000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0" y="77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58000" y="1051560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10515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PaymentId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858000" y="1252728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31152" y="125272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InvoiceId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858000" y="1453896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31152" y="145389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858000" y="1655064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31152" y="165506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PaymentMethod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858000" y="1856232"/>
            <a:ext cx="22860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1152" y="18562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TransactionRef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858000" y="2057400"/>
            <a:ext cx="22860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20574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28600" y="4023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3NF  |  Constraints: FK, CHECK, UNIQUE  |  Triggers: 3 auto-update triggers  |  Indexes: 4 performance indexes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28600" y="4023360"/>
            <a:ext cx="868680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023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3NF  |  Constraints: FK, CHECK, UNIQUE  |  Triggers: 3 auto-update triggers  |  Indexes: 4 performance indexes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— Applied Throughout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432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411480" cy="1417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850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116128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InvoiceService: business logic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InvoiceRepository: data access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JwtService: token generation only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7432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77240"/>
            <a:ext cx="41148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7772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30168" y="850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30168" y="116128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BaseEntity extended by Invoice, Payment, Customer without modification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80760" y="777240"/>
            <a:ext cx="27432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777240"/>
            <a:ext cx="411480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77724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56248" y="850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56248" y="116128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IInvoiceRepository substitutes real one in 28 unit tests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27432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331720"/>
            <a:ext cx="411480" cy="1417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33172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" y="2404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271576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IInvoiceRepository ≠ IPaymentRepository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fat interfaces — each has only relevant methods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54680" y="2331720"/>
            <a:ext cx="27432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331720"/>
            <a:ext cx="411480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233172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30168" y="2404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30168" y="271576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depend on IInvoiceService, not InvoiceService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wired via ASP.NET Core DI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— Industry-Standard Implementation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425196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95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Infrastructure/Repositories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13075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business logic from DB technology. Swap EF Core for Dapper — only Infrastructure changes.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42519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795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1064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Invoice.Create(), Payment.Create()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54880" y="13075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valid object construction. An Invoice with empty CustomerName cannot be created.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075688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075688"/>
            <a:ext cx="425196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09397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404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Core/Services/InvoiceService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0040" y="260604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controllers thin. All business rules live in one testable place.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075688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075688"/>
            <a:ext cx="425196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09397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404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API/Middleware/ExceptionMiddleware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60604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error handling. No try-catch in controllers — clean, consistent JSON errors.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374136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374136"/>
            <a:ext cx="4251960" cy="2926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3924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Pattern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3703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API/DTOs/InvoiceDtos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0040" y="39044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API contract from domain model. Internal refactoring doesn't break API consumers.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374136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374136"/>
            <a:ext cx="425196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3924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3703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AppDbContext.SaveChangesAsync()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54880" y="39044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in a request commit atomically. Prevents partial writes on payment processing.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MVC, Razor Pages &amp; AJAX Integration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List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02412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with jQuery — filters table without page reload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dropdown filter — show Draft, Sent, Overdue, Paid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 badges (Bootstrap 5)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Payment AJAX form — process payment without navigation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Anti-forgery token on all POST forms (CSRF protection)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02412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with jQuery — filters table without page reload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dropdown filter — show Draft, Sent, Overdue, Paid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 badges (Bootstrap 5)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Payment AJAX form — process payment without navigation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Anti-forgery token on all POST forms (CSRF protection)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788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Details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06324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 card + Amount summary card (side by side)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line items table with computed totals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 with transaction references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action buttons (Send / Add Item / Process Payment)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TempData success/error alerts between redirects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251960" cy="3840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25196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051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/Invoice/Index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Invoice List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Search + AJAX Pay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/Invoice/Create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New Invoice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Form Validation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/Invoice/Details/{id}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Items &amp; Payments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/Invoice/AddItem/{id}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Add Item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Server + Client Validation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/Invoice/ProcessPayment/{id}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Payment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Business Rule Check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&amp; JWT Authentication — US8 &amp; US9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132588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1627632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username + password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54480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3352" y="1051560"/>
            <a:ext cx="132588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673352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73352" y="1371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673352" y="1627632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credentials, generate JWT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999232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8104" y="1051560"/>
            <a:ext cx="132588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118104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18104" y="1371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returned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18104" y="1627632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Name, Role, Expiry claims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443984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62856" y="1051560"/>
            <a:ext cx="132588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62856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2856" y="1371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token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62856" y="1627632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eyJ...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888736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7608" y="1051560"/>
            <a:ext cx="132588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007608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07608" y="1371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validates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007608" y="1627632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issuer + audience + expiry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333488" y="152704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1051560"/>
            <a:ext cx="132588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52360" y="1371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452360" y="1627632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[Authorize(Roles='Admin,Manager')]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28600" y="2176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87168"/>
          <a:ext cx="868680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371600"/>
                <a:gridCol w="1188720"/>
                <a:gridCol w="192024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GET 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 Invoice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Add Items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Process Payment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GET Overdue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Admin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Manager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Viewer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Anonymous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 — 28 Unit Tests Passing</a:t>
            </a:r>
            <a:endParaRPr lang="en-US" sz="1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749808"/>
          <a:ext cx="4389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74980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51560"/>
          <a:ext cx="4069080" cy="164592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Happy path tests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Exception/error tests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Business rule tests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846320" y="27889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46320" y="3090672"/>
            <a:ext cx="406908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56048" y="3163824"/>
            <a:ext cx="3849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956048" y="3438144"/>
            <a:ext cx="384962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 — Facts and Theories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846320" y="3611880"/>
            <a:ext cx="4069080" cy="45720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956048" y="3685032"/>
            <a:ext cx="3849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956048" y="3959352"/>
            <a:ext cx="384962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IInvoiceRepository, IPaymentRepository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846320" y="4133088"/>
            <a:ext cx="406908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956048" y="4206240"/>
            <a:ext cx="3849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FluentAssertions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956048" y="4480560"/>
            <a:ext cx="384962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assertions: .Should().Be(), .Throw()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28600" y="3200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Arrange → Act → Assert  |  All tests run in memory — no DB dependency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 — Full Application 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347472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749808"/>
            <a:ext cx="829360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795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Invoice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10241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/Invoice/Create → InvoiceController → InvoiceService.CreateInvoiceAsync() → EF Core INSERT → 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408176"/>
            <a:ext cx="347472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408176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1408176"/>
            <a:ext cx="82936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453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16824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/Invoice/AddItem → Service.AddItemToInvoiceAsync() → DB INSERT → Trigger fires → TotalAmount updated automatically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066544"/>
            <a:ext cx="347472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066544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2066544"/>
            <a:ext cx="829360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1122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Invoice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23408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/Invoice/Send → Service.SendInvoiceAsync() → Status: Draft→Sent → EF Core UPDATE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724912"/>
            <a:ext cx="347472" cy="5303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72491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2724912"/>
            <a:ext cx="82936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2770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" y="29992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/Invoice/ProcessPayment → Service validates amount ≤ BalanceDue → Payment INSERT → Trigger → PaidAmount updated → Status→Paid/PartiallyPaid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3383280"/>
            <a:ext cx="347472" cy="5303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383280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" y="3383280"/>
            <a:ext cx="829360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" y="3657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→ JWT token → GET /api/Invoices (Bearer) → InvoicesController → Repository → DTO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8600" y="4041648"/>
            <a:ext cx="347472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" y="4041648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4041648"/>
            <a:ext cx="82936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" y="431596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UPDATE → trg_Invoices_Audit fires automatically → OldValues + NewValues recorded in AuditLogs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Rules — Domain-Level Enforcement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State Machine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789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10789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10789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0440" y="10789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0789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66360" y="1078992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0789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74520" y="192024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1920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192024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920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91640" y="1362456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1362456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1362456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749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078992"/>
            <a:ext cx="2148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BR-01: Status follows strict state machine — no skipping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66560" y="1463040"/>
            <a:ext cx="2148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499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BR-02: Items only addable to Draft invoices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66560" y="1847088"/>
            <a:ext cx="2148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8836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BR-03: Payment cannot exceed balance due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66560" y="2231136"/>
            <a:ext cx="2148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2677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BR-04: Due date must be in the future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766560" y="2615184"/>
            <a:ext cx="2148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BR-05: Cannot cancel a paid invoice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66560" y="2999232"/>
            <a:ext cx="2148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035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BR-06: Auto status update after payment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66560" y="3383280"/>
            <a:ext cx="2148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4198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BR-07: Soft delete — no physical deletion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766560" y="3767328"/>
            <a:ext cx="2148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803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BR-08: SQL triggers maintain totals automatically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40690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enforced at the Domain Entity level — before any DB write occurs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— Layered Defense Strategy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7432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749808"/>
            <a:ext cx="836676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04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0241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Invoice.Create(), Payment.Create()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Exception: ArgumentException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blocked before object creation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682496"/>
            <a:ext cx="274320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682496"/>
            <a:ext cx="83667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19568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InvoiceService methods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2139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Exception: InvoiceNotFoundException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PaymentExceedsBalanceException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violations surfaced with context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615184"/>
            <a:ext cx="274320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615184"/>
            <a:ext cx="836676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Middleware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8895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ExceptionMiddleware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072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Exception: All unhandled exceptions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0" y="2871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everything → returns JSON { error, statusCode 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547872"/>
            <a:ext cx="274320" cy="8046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547872"/>
            <a:ext cx="83667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Controller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8221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ModelState.AddModelError()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Exception: User input errors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38039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Re-displays form with validation messages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Modern — Industry Do's &amp; Don'ts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49808"/>
          <a:ext cx="868680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3520440"/>
                <a:gridCol w="3520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❌ Traditional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✓ Our Modern Approach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Data Access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Raw ADO.NET + stored procedures everywhere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6A34A"/>
                          </a:solidFill>
                        </a:rPr>
                        <a:t>EF Core + Repository Pattern (ADO.NET for performance-critical reads only)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Auth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Session cookies, Forms Authentication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6A34A"/>
                          </a:solidFill>
                        </a:rPr>
                        <a:t>Stateless JWT Bearer tokens with role claims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Error Handling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Try-catch in every method, inconsistent responses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6A34A"/>
                          </a:solidFill>
                        </a:rPr>
                        <a:t>Centralized ExceptionMiddleware — consistent JSON errors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Testing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Manual testing, no automation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6A34A"/>
                          </a:solidFill>
                        </a:rPr>
                        <a:t>TDD: 28 xUnit tests with Moq and FluentAssertions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Architecture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Tightly coupled monolith, no layers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6A34A"/>
                          </a:solidFill>
                        </a:rPr>
                        <a:t>Clean layered architecture with DI and interface abstractions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Deployment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FTP upload to IIS manually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6A34A"/>
                          </a:solidFill>
                        </a:rPr>
                        <a:t>Docker + GitHub Actions CI/CD + Azure App Services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Important Concepts &amp; Modules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251960" cy="69494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457200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4980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804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Design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58952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entity owns its own state transitions and business rules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251960" cy="69494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457200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74980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93792" y="804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Service Pattern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93792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data access from business logic via interfaces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554480"/>
            <a:ext cx="4251960" cy="694944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554480"/>
            <a:ext cx="457200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15544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Fluent API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8952" y="1883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control over DB mappings, relationships, and ignored properties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4251960" cy="694944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554480"/>
            <a:ext cx="457200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5544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3792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Trigger Architecture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93792" y="1883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triggers maintain TotalAmount, PaidAmount, and Audit log automatically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359152"/>
            <a:ext cx="4251960" cy="69494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359152"/>
            <a:ext cx="457200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35915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Authentication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8952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tokens with role-based claims, 60-min expiry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359152"/>
            <a:ext cx="4251960" cy="69494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359152"/>
            <a:ext cx="45720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35915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DI Pipeline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93792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wired via IServiceCollection — zero manual instantiation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163824"/>
            <a:ext cx="4251960" cy="694944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163824"/>
            <a:ext cx="45720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316382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8952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with Moq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952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tests using Arrange-Act-Assert; repos mocked, no real DB in tests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3163824"/>
            <a:ext cx="4251960" cy="694944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163824"/>
            <a:ext cx="45720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16382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93792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+ Anti-forgery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93792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payment processing with jQuery + CSRF token validation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" y="3968496"/>
            <a:ext cx="4251960" cy="69494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3968496"/>
            <a:ext cx="45720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" y="396849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952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Middleware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8952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handler converts all exceptions to consistent JSON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3968496"/>
            <a:ext cx="4251960" cy="69494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968496"/>
            <a:ext cx="45720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396849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93792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GitHub Actions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93792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 → test → deploy pipeline on push to main branch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DevOps &amp; AI — US10, US11, US12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1325880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54480" y="13716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1051560"/>
            <a:ext cx="1325880" cy="64008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1673352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99232" y="13716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18104" y="1051560"/>
            <a:ext cx="13258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118104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43984" y="13716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1051560"/>
            <a:ext cx="132588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62856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88736" y="13716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7608" y="1051560"/>
            <a:ext cx="132588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007608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33488" y="13716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051560"/>
            <a:ext cx="132588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1874520"/>
            <a:ext cx="2011680" cy="2468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1874520"/>
            <a:ext cx="20116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01752" y="2267712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aspnet:8.0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sdk:8.0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final image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04872" y="1874520"/>
            <a:ext cx="2011680" cy="2468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04872" y="1874520"/>
            <a:ext cx="2011680" cy="3474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2478024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ci-cd.yml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78024" y="2267712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push to main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build-and-test + deploy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AZURE_PUBLISH_PROFILE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81144" y="1874520"/>
            <a:ext cx="2011680" cy="2468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81144" y="1874520"/>
            <a:ext cx="20116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654296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54296" y="2267712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Azure App 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→ Azure App 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Azure SQL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→ Azure Key Vault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57416" y="1874520"/>
            <a:ext cx="2011680" cy="2468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57416" y="1874520"/>
            <a:ext cx="2011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830568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(US12)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30568" y="2267712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endpoint conceptualized: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/api/agent/summarize-invoice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Claude/LLM generates payment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 + recommended action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Practices Followed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251960" cy="8412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2926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49808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8229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 domain entities in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09728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prevent over-posting attacks and decouple API from internal model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251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926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749808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8229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Anti-forgery tokens on all POST forms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09728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[ValidateAntiForgeryToken] on every MVC POST — CSRF attack prevention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737360"/>
            <a:ext cx="4251960" cy="8412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737360"/>
            <a:ext cx="2926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1737360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18105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throughout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2084832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repository &amp; service methods are async — no thread blocking under load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4251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737360"/>
            <a:ext cx="2926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737360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18105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validation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2084832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Annotations + ModelState + Domain ArgumentException — 3 validation layers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724912"/>
            <a:ext cx="4251960" cy="8412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724912"/>
            <a:ext cx="292608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724912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27980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setters for encapsulation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3072384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Invoice.Status, TotalAmount have private setters — state changes only via domain methods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724912"/>
            <a:ext cx="4251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724912"/>
            <a:ext cx="292608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724912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27980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pattern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3072384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IsDeleted flag — data integrity and audit history preserved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712464"/>
            <a:ext cx="4251960" cy="8412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712464"/>
            <a:ext cx="292608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3712464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4360" y="378561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strings in config only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" y="4059936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hardcoded — appsettings.json in dev, Azure Key Vault in production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712464"/>
            <a:ext cx="4251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712464"/>
            <a:ext cx="292608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712464"/>
            <a:ext cx="292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0" y="378561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0" y="4059936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ExceptionMiddleware — no stack traces in API responses in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Ganesh Vardhineni  |  Great Learning Capstone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Readiness — SME Panel Preparation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425196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863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Repository Pattern?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Decouples business logic from EF Core. Swap to Dapper — only Infrastructure changes. Also enables unit testing with mocks.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749808"/>
            <a:ext cx="425196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JWT prevent unauthorized access?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0" y="111556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JwtBearer middleware validates signature, issuer, audience &amp; expiry on every request before the controller executes.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048256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048256"/>
            <a:ext cx="425196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0848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payment &gt; balance?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4140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InvoiceService throws PaymentExceedsBalanceException before any DB write. ExceptionMiddleware returns HTTP 400.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048256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048256"/>
            <a:ext cx="42519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0848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use triggers?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4140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TotalAmount/PaidAmount stay accurate even with direct SQL inserts — data integrity beyond the application layer.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3346704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346704"/>
            <a:ext cx="42519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3832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would you scale for production?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371246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Add pagination, Redis cache, Azure SQL geo-replication, horizontal App Service scaling, separate deployments for API and Web.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3346704"/>
            <a:ext cx="4251960" cy="1170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346704"/>
            <a:ext cx="42519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3832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Most important SOLID principle here?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71246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Dependency Inversion — InvoiceController has no knowledge of SQL Server. Only IInvoiceService. Makes every layer independently testable.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 &amp; Thank You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2743200" cy="3108960"/>
          </a:xfrm>
          <a:prstGeom prst="rect">
            <a:avLst/>
          </a:prstGeom>
          <a:solidFill>
            <a:srgbClr val="0F2A44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274320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— full user registration &amp; login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invoice generation (QuestPDF)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via SendGrid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server-side filtering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72968" y="1024128"/>
            <a:ext cx="2743200" cy="3108960"/>
          </a:xfrm>
          <a:prstGeom prst="rect">
            <a:avLst/>
          </a:prstGeom>
          <a:solidFill>
            <a:srgbClr val="0F2A4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024128"/>
            <a:ext cx="2743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64408" y="1444752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calculation (GST/VAT)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self-service portal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with charts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17336" y="1024128"/>
            <a:ext cx="2743200" cy="3108960"/>
          </a:xfrm>
          <a:prstGeom prst="rect">
            <a:avLst/>
          </a:prstGeom>
          <a:solidFill>
            <a:srgbClr val="0F2A4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7336" y="1024128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08776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08776" y="1444752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invoice summarization (MCP/Claude)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Razorpay/Stripe payment gateway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invoice automation (Hangfire)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split (Invoice + Payment)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4224528"/>
            <a:ext cx="86868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422452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Platform  | 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github.com/ganeshvardhineni/FinanceBillingPlatform  |  Ganesh Vardhineni  |  Great Learning Capstone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&amp; Billing Platform</dc:title>
  <dc:subject>PptxGenJS Presentation</dc:subject>
  <dc:creator>Ganesh Vardhineni</dc:creator>
  <cp:lastModifiedBy>Ganesh Vardhineni</cp:lastModifiedBy>
  <cp:revision>1</cp:revision>
  <dcterms:created xsi:type="dcterms:W3CDTF">2026-06-05T09:39:01Z</dcterms:created>
  <dcterms:modified xsi:type="dcterms:W3CDTF">2026-06-05T09:39:01Z</dcterms:modified>
</cp:coreProperties>
</file>